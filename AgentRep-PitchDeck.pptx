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0" r:id="rId21"/>
    <p:sldId id="271" r:id="rId2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7.xml"/><Relationship Id="rId22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548640"/>
            <a:ext cx="27432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7AFF"/>
                </a:solidFill>
                <a:latin typeface="Calibri"/>
              </a:defRPr>
            </a:pPr>
            <a:r>
              <a:t>On-Chain Reputation for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ERC-8004 on Hedera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26080"/>
            <a:ext cx="1828800" cy="27432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259EF"/>
                </a:solidFill>
                <a:latin typeface="Calibri"/>
              </a:defRPr>
            </a:pPr>
            <a:r>
              <a:t>agentrep.xyz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25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825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828800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097280"/>
            <a:ext cx="2926080" cy="2926080"/>
          </a:xfrm>
          <a:prstGeom prst="ellipse">
            <a:avLst/>
          </a:prstGeom>
          <a:solidFill>
            <a:srgbClr val="1A1240"/>
          </a:solidFill>
          <a:ln w="3175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79" y="960120"/>
            <a:ext cx="2990882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4160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Firas Belhiba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7E"/>
                </a:solidFill>
              </a:defRPr>
            </a:pPr>
            <a:r>
              <a:t>Full-Stack Blockchain Developer</a:t>
            </a:r>
          </a:p>
        </p:txBody>
      </p:sp>
      <p:sp>
        <p:nvSpPr>
          <p:cNvPr id="10" name="Oval 9"/>
          <p:cNvSpPr/>
          <p:nvPr/>
        </p:nvSpPr>
        <p:spPr>
          <a:xfrm>
            <a:off x="5120640" y="1097280"/>
            <a:ext cx="2926080" cy="2926080"/>
          </a:xfrm>
          <a:prstGeom prst="ellipse">
            <a:avLst/>
          </a:prstGeom>
          <a:solidFill>
            <a:srgbClr val="1A1240"/>
          </a:solidFill>
          <a:ln w="3175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47" y="960120"/>
            <a:ext cx="1667865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4160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Olfa Selmi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480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7E"/>
                </a:solidFill>
              </a:defRPr>
            </a:pPr>
            <a:r>
              <a:t>Blockchain Developer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AI agents are proliferating, but there is no way to know which ones to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196596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1965960" cy="45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No Verifiable </a:t>
            </a:r>
            <a:br/>
            <a:r>
              <a:t>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971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Can't verify an agent's track record. Past performance is invisible and unverifiable.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554480"/>
            <a:ext cx="196596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1554480"/>
            <a:ext cx="1965960" cy="45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7830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Sybil </a:t>
            </a:r>
            <a:br/>
            <a:r>
              <a:t>Attacks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971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Fake agents inflating reputation through fake feedback. No identity verification.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1554480"/>
            <a:ext cx="196596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59" y="1554480"/>
            <a:ext cx="1965960" cy="45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17830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599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No </a:t>
            </a:r>
            <a:br/>
            <a: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599" y="2971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Dishonest feedback with zero consequences. No staking, no slashing, no recourse.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19" y="1554480"/>
            <a:ext cx="196596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19" y="1554480"/>
            <a:ext cx="1965960" cy="45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19" y="17830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Centralized Trust </a:t>
            </a:r>
            <a:br/>
            <a:r>
              <a:t>Bottlenecks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971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AA"/>
                </a:solidFill>
                <a:latin typeface="Calibri"/>
              </a:defRPr>
            </a:pPr>
            <a:r>
              <a:t>Centralized databases can be tampered with. Single points of failure for trust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The AgentRep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Built on ERC-8004 + HCS-10 with a TypeScript SDK (agent-rep-sdk)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196596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965960" cy="4572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645920"/>
            <a:ext cx="594360" cy="594360"/>
          </a:xfrm>
          <a:prstGeom prst="ellipse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Reputation-Weighted </a:t>
            </a:r>
            <a:br/>
            <a:r>
              <a:t>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9718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AA"/>
                </a:solidFill>
                <a:latin typeface="Calibri"/>
              </a:defRPr>
            </a:pPr>
            <a:r>
              <a:t>weight = 0.2 + 0.8 x (giverScore/1000). </a:t>
            </a:r>
            <a:br/>
            <a:r>
              <a:t>Stored on-chain via ERC-8004 Reputation Registry.</a:t>
            </a:r>
            <a:br/>
            <a: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463040"/>
            <a:ext cx="196596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1463040"/>
            <a:ext cx="196596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0" y="16459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64592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Stake-Based </a:t>
            </a:r>
            <a:br/>
            <a:r>
              <a:t>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718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AA"/>
                </a:solidFill>
                <a:latin typeface="Calibri"/>
              </a:defRPr>
            </a:pPr>
            <a:r>
              <a:t>5 HBAR minimum stake. </a:t>
            </a:r>
            <a:br/>
            <a:r>
              <a:t>10% slashed per upheld dispute.</a:t>
            </a:r>
            <a:br/>
            <a:r>
              <a:t>AgentRepStaking.sol smart contract.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1463040"/>
            <a:ext cx="196596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59" y="1463040"/>
            <a:ext cx="196596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94959" y="1645920"/>
            <a:ext cx="594360" cy="5943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164592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599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Cross-Validation &amp; </a:t>
            </a:r>
            <a:br/>
            <a:r>
              <a:t>Outlier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599" y="29718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AA"/>
                </a:solidFill>
                <a:latin typeface="Calibri"/>
              </a:defRPr>
            </a:pPr>
            <a:r>
              <a:t>Z-score outlier detection. </a:t>
            </a:r>
            <a:br/>
            <a:r>
              <a:t>Feedback &gt;1.5 std dev discounted.</a:t>
            </a:r>
            <a:br/>
            <a:r>
              <a:t>Published via HCS-10 messaging.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19" y="1463040"/>
            <a:ext cx="196596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19" y="1463040"/>
            <a:ext cx="196596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19" y="1645920"/>
            <a:ext cx="594360" cy="59436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164592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23774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Validation of </a:t>
            </a:r>
            <a:br/>
            <a:r>
              <a:t>Validators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29718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AA"/>
                </a:solidFill>
                <a:latin typeface="Calibri"/>
              </a:defRPr>
            </a:pPr>
            <a:r>
              <a:t>weight = 0.3 + 0.7 x (validatorScore/1000). </a:t>
            </a:r>
            <a:br/>
            <a:r>
              <a:t>Recursive web of trust. </a:t>
            </a:r>
            <a:br/>
            <a:r>
              <a:t>ERC-8004 Validation Registry.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Reputation Score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Composite score 0–1000 from 4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75488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5720" cy="658368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259EF"/>
                </a:solidFill>
                <a:latin typeface="Calibri"/>
              </a:defRPr>
            </a:pPr>
            <a:r>
              <a:t>30% (max 300)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Reputation-weighted + outlier-discounted feedback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475488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45720" cy="658368"/>
          </a:xfrm>
          <a:prstGeom prst="rect">
            <a:avLst/>
          </a:prstGeom>
          <a:solidFill>
            <a:srgbClr val="6C4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58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45D9"/>
                </a:solidFill>
                <a:latin typeface="Calibri"/>
              </a:defRPr>
            </a:pPr>
            <a:r>
              <a:t>30% (max 300)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Validator-weighted validation score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62656"/>
            <a:ext cx="475488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62656"/>
            <a:ext cx="45720" cy="658368"/>
          </a:xfrm>
          <a:prstGeom prst="rect">
            <a:avLst/>
          </a:prstGeom>
          <a:solidFill>
            <a:srgbClr val="B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083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08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7AFF"/>
                </a:solidFill>
                <a:latin typeface="Calibri"/>
              </a:defRPr>
            </a:pPr>
            <a:r>
              <a:t>20% (max 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10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Logarithmic scale of total interactions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2464"/>
            <a:ext cx="475488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12464"/>
            <a:ext cx="45720" cy="658368"/>
          </a:xfrm>
          <a:prstGeom prst="rect">
            <a:avLst/>
          </a:prstGeom>
          <a:solidFill>
            <a:srgbClr val="996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58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758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66EE"/>
                </a:solidFill>
                <a:latin typeface="Calibri"/>
              </a:defRPr>
            </a:pPr>
            <a:r>
              <a:t>20% (max 200)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599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Low standard deviation = higher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1463040"/>
            <a:ext cx="320040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1463040"/>
            <a:ext cx="3200400" cy="4572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1600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Trust Tiers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2057400"/>
            <a:ext cx="2743200" cy="457200"/>
          </a:xfrm>
          <a:prstGeom prst="rect">
            <a:avLst/>
          </a:prstGeom>
          <a:solidFill>
            <a:srgbClr val="0D0D1A"/>
          </a:solidFill>
          <a:ln w="1270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08483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Arial Black"/>
              </a:defRPr>
            </a:pPr>
            <a:r>
              <a:t>UNVERIFIED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29514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&lt; 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651760"/>
            <a:ext cx="2743200" cy="457200"/>
          </a:xfrm>
          <a:prstGeom prst="rect">
            <a:avLst/>
          </a:prstGeom>
          <a:solidFill>
            <a:srgbClr val="0D0D1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67919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Arial Black"/>
              </a:defRPr>
            </a:pPr>
            <a:r>
              <a:t>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8895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≥ 200, ≥ 3 activities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246120"/>
            <a:ext cx="2743200" cy="457200"/>
          </a:xfrm>
          <a:prstGeom prst="rect">
            <a:avLst/>
          </a:prstGeom>
          <a:solidFill>
            <a:srgbClr val="0D0D1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27355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 Black"/>
              </a:defRPr>
            </a:pPr>
            <a:r>
              <a:t>TRUSTED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483863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≥ 500, ≥ 10 activities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840480"/>
            <a:ext cx="2743200" cy="457200"/>
          </a:xfrm>
          <a:prstGeom prst="rect">
            <a:avLst/>
          </a:prstGeom>
          <a:solidFill>
            <a:srgbClr val="0D0D1A"/>
          </a:solidFill>
          <a:ln w="1270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3867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43B"/>
                </a:solidFill>
                <a:latin typeface="Arial Black"/>
              </a:defRPr>
            </a:pPr>
            <a:r>
              <a:t>ELITE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0782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≥ 800, ≥ 20 activities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On-Chain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7AFF"/>
                </a:solidFill>
                <a:latin typeface="Arial Black"/>
              </a:defRPr>
            </a:pPr>
            <a:r>
              <a:t>HCS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5720" cy="68580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Identity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AGENT_REGISTERED, URI_UPDATED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4114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45720" cy="68580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Feedback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877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FEEDBACK_SUBMITTED, STAKE_DEPOSITED, STAKE_SLASHED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4114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45720" cy="68580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Validation 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VALIDATION_REQUESTED, VALIDATION_RESPONDED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7AFF"/>
                </a:solidFill>
                <a:latin typeface="Arial Black"/>
              </a:defRPr>
            </a:pPr>
            <a:r>
              <a:t>Smart Contract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463040"/>
            <a:ext cx="36576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46304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572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AgentRepStaking.sol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8470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alibri"/>
              </a:defRPr>
            </a:pPr>
            <a:r>
              <a:t>Contract: 0.0.8264743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Functions: stake, slash, unstake, getStake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7AFF"/>
                </a:solidFill>
                <a:latin typeface="Arial Black"/>
              </a:defRPr>
            </a:pPr>
            <a:r>
              <a:t>Standards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2606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33087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47E"/>
                </a:solidFill>
                <a:latin typeface="Arial Black"/>
              </a:defRPr>
            </a:pPr>
            <a:r>
              <a:t>ERC-8004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70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Identity + Reputation +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114800"/>
            <a:ext cx="2606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13308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259EF"/>
                </a:solidFill>
                <a:latin typeface="Arial Black"/>
              </a:defRPr>
            </a:pPr>
            <a:r>
              <a:t>HCS-10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370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Agent Communication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2606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413308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259EF"/>
                </a:solidFill>
                <a:latin typeface="Arial Black"/>
              </a:defRPr>
            </a:pPr>
            <a:r>
              <a:t>HCS-11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370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Agent Profiles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25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825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7E"/>
                </a:solidFill>
              </a:defRPr>
            </a:pPr>
            <a:r>
              <a:t>Frontend (Next.js 14)</a:t>
            </a:r>
          </a:p>
          <a:p>
            <a:pPr>
              <a:defRPr sz="1000" b="0">
                <a:solidFill>
                  <a:srgbClr val="AAAAAA"/>
                </a:solidFill>
              </a:defRPr>
            </a:pPr>
            <a:r>
              <a:t>Deployed on Vercel</a:t>
            </a:r>
          </a:p>
          <a:p>
            <a:pPr>
              <a:defRPr sz="1000" b="0">
                <a:solidFill>
                  <a:srgbClr val="8259EF"/>
                </a:solidFill>
              </a:defRPr>
            </a:pPr>
            <a:r>
              <a:t>agentrep.xyz</a:t>
            </a:r>
          </a:p>
          <a:p>
            <a:pPr>
              <a:defRPr sz="1000" b="0">
                <a:solidFill>
                  <a:srgbClr val="AAAAAA"/>
                </a:solidFill>
              </a:defRPr>
            </a:pPr>
            <a:r>
              <a:t>WalletConnect / HashPack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783080"/>
            <a:ext cx="548640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49039" y="1371600"/>
            <a:ext cx="2560320" cy="10972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199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7E"/>
                </a:solidFill>
              </a:defRPr>
            </a:pPr>
            <a:r>
              <a:t>Backend (NestJS)</a:t>
            </a:r>
          </a:p>
          <a:p>
            <a:pPr>
              <a:defRPr sz="1000" b="0">
                <a:solidFill>
                  <a:srgbClr val="AAAAAA"/>
                </a:solidFill>
              </a:defRPr>
            </a:pPr>
            <a:r>
              <a:t>Deployed on Render</a:t>
            </a:r>
          </a:p>
          <a:p>
            <a:pPr>
              <a:defRPr sz="1000" b="0">
                <a:solidFill>
                  <a:srgbClr val="AAAAAA"/>
                </a:solidFill>
              </a:defRPr>
            </a:pPr>
            <a:r>
              <a:t>REST API + WebSocket</a:t>
            </a:r>
          </a:p>
          <a:p>
            <a:pPr>
              <a:defRPr sz="1000" b="0">
                <a:solidFill>
                  <a:srgbClr val="8259EF"/>
                </a:solidFill>
              </a:defRPr>
            </a:pPr>
            <a:r>
              <a:t>Reputation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548640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1371600"/>
            <a:ext cx="1828800" cy="10972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463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7E"/>
                </a:solidFill>
              </a:defRPr>
            </a:pPr>
            <a:r>
              <a:t>Hedera Network</a:t>
            </a:r>
          </a:p>
          <a:p>
            <a:pPr>
              <a:defRPr sz="1000" b="0">
                <a:solidFill>
                  <a:srgbClr val="AAAAAA"/>
                </a:solidFill>
              </a:defRPr>
            </a:pPr>
            <a:r>
              <a:t>HCS Topics</a:t>
            </a:r>
          </a:p>
          <a:p>
            <a:pPr>
              <a:defRPr sz="1000" b="0">
                <a:solidFill>
                  <a:srgbClr val="AAAAAA"/>
                </a:solidFill>
              </a:defRPr>
            </a:pPr>
            <a:r>
              <a:t>Smart Contract</a:t>
            </a:r>
          </a:p>
          <a:p>
            <a:pPr>
              <a:defRPr sz="1000" b="0">
                <a:solidFill>
                  <a:srgbClr val="8259EF"/>
                </a:solidFill>
              </a:defRPr>
            </a:pPr>
            <a:r>
              <a:t>Testnet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259EF"/>
                </a:solidFill>
              </a:defRPr>
            </a:pPr>
            <a:r>
              <a:t>HCS Topics (On-Chain Data Layer)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256032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</a:defRPr>
            </a:pPr>
            <a:r>
              <a:t>Identity: 0.0.8264956</a:t>
            </a:r>
          </a:p>
          <a:p>
            <a:pPr>
              <a:defRPr sz="800" b="0">
                <a:solidFill>
                  <a:srgbClr val="AAAAAA"/>
                </a:solidFill>
              </a:defRPr>
            </a:pPr>
            <a:r>
              <a:t>Agent registration &amp; URI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108960"/>
            <a:ext cx="256032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</a:defRPr>
            </a:pPr>
            <a:r>
              <a:t>Feedback: 0.0.8264959</a:t>
            </a:r>
          </a:p>
          <a:p>
            <a:pPr>
              <a:defRPr sz="800" b="0">
                <a:solidFill>
                  <a:srgbClr val="AAAAAA"/>
                </a:solidFill>
              </a:defRPr>
            </a:pPr>
            <a:r>
              <a:t>Feedback, stakes &amp; slashing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108960"/>
            <a:ext cx="292608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</a:defRPr>
            </a:pPr>
            <a:r>
              <a:t>Validation: 0.0.8264962</a:t>
            </a:r>
          </a:p>
          <a:p>
            <a:pPr>
              <a:defRPr sz="800" b="0">
                <a:solidFill>
                  <a:srgbClr val="AAAAAA"/>
                </a:solidFill>
              </a:defRPr>
            </a:pPr>
            <a:r>
              <a:t>Cross-validation requests &amp; responses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259EF"/>
                </a:solidFill>
              </a:defRPr>
            </a:pPr>
            <a:r>
              <a:t>Smart Contract &amp; Protocol Standards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274320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7E"/>
                </a:solidFill>
              </a:defRPr>
            </a:pPr>
            <a:r>
              <a:t>AgentRepStaking.sol (0.0.8264743)</a:t>
            </a:r>
          </a:p>
          <a:p>
            <a:pPr>
              <a:defRPr sz="800" b="0">
                <a:solidFill>
                  <a:srgbClr val="AAAAAA"/>
                </a:solidFill>
              </a:defRPr>
            </a:pPr>
            <a:r>
              <a:t>stake / slash / unstake / getStake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297680"/>
            <a:ext cx="182880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389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7E"/>
                </a:solidFill>
              </a:defRPr>
            </a:pPr>
            <a:r>
              <a:t>ERC-8004</a:t>
            </a:r>
          </a:p>
          <a:p>
            <a:pPr>
              <a:defRPr sz="800" b="0">
                <a:solidFill>
                  <a:srgbClr val="AAAAAA"/>
                </a:solidFill>
              </a:defRPr>
            </a:pPr>
            <a:r>
              <a:t>3 Registries via HCS Topics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4297680"/>
            <a:ext cx="164592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7E"/>
                </a:solidFill>
              </a:defRPr>
            </a:pPr>
            <a:r>
              <a:t>HCS-10</a:t>
            </a:r>
          </a:p>
          <a:p>
            <a:pPr>
              <a:defRPr sz="800" b="0">
                <a:solidFill>
                  <a:srgbClr val="AAAAAA"/>
                </a:solidFill>
              </a:defRPr>
            </a:pPr>
            <a:r>
              <a:t>Agent Communication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4297680"/>
            <a:ext cx="164592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7E"/>
                </a:solidFill>
              </a:defRPr>
            </a:pPr>
            <a:r>
              <a:t>HCS-11</a:t>
            </a:r>
          </a:p>
          <a:p>
            <a:pPr>
              <a:defRPr sz="800" b="0">
                <a:solidFill>
                  <a:srgbClr val="AAAAAA"/>
                </a:solidFill>
              </a:defRPr>
            </a:pPr>
            <a:r>
              <a:t>Agent Profiles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25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825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Interaction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2286000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46304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86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698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B9B9D"/>
                </a:solidFill>
              </a:defRPr>
            </a:pPr>
            <a:r>
              <a:t>Service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868680"/>
            <a:ext cx="1463040" cy="411480"/>
          </a:xfrm>
          <a:prstGeom prst="rect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886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AgentRep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0698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B9B9D"/>
                </a:solidFill>
              </a:defRPr>
            </a:pPr>
            <a:r>
              <a:t>HCS + ERC-8004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868680"/>
            <a:ext cx="146304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886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0698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B9B9D"/>
                </a:solidFill>
              </a:defRPr>
            </a:pPr>
            <a:r>
              <a:t>Client / Requester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" y="1280160"/>
            <a:ext cx="18288" cy="4754880"/>
          </a:xfrm>
          <a:prstGeom prst="rect">
            <a:avLst/>
          </a:prstGeom>
          <a:solidFill>
            <a:srgbClr val="55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62856" y="1280160"/>
            <a:ext cx="18288" cy="4754880"/>
          </a:xfrm>
          <a:prstGeom prst="rect">
            <a:avLst/>
          </a:prstGeom>
          <a:solidFill>
            <a:srgbClr val="55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63256" y="1280160"/>
            <a:ext cx="18288" cy="4754880"/>
          </a:xfrm>
          <a:prstGeom prst="rect">
            <a:avLst/>
          </a:prstGeom>
          <a:solidFill>
            <a:srgbClr val="55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371600"/>
            <a:ext cx="8595360" cy="548640"/>
          </a:xfrm>
          <a:prstGeom prst="rect">
            <a:avLst/>
          </a:prstGeom>
          <a:solidFill>
            <a:srgbClr val="10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1581912"/>
            <a:ext cx="3383280" cy="18288"/>
          </a:xfrm>
          <a:prstGeom prst="rect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4434840" y="1527048"/>
            <a:ext cx="128016" cy="128016"/>
          </a:xfrm>
          <a:prstGeom prst="triangle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1490472"/>
            <a:ext cx="182880" cy="18288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150876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7AFF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13716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1. Register + Stake 5 HBAR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16733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9B9D"/>
                </a:solidFill>
              </a:defRPr>
            </a:pPr>
            <a:r>
              <a:t>HCS-10 identity, inbound/outbound topics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221992"/>
            <a:ext cx="3108960" cy="18288"/>
          </a:xfrm>
          <a:prstGeom prst="rect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6200000">
            <a:off x="4581144" y="2167128"/>
            <a:ext cx="128016" cy="128016"/>
          </a:xfrm>
          <a:prstGeom prst="triangle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0" y="2130552"/>
            <a:ext cx="182880" cy="18288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14884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7AFF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011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2. Discover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3134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9B9D"/>
                </a:solidFill>
              </a:defRPr>
            </a:pPr>
            <a:r>
              <a:t>Query ERC-8004 Identity Registry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651760"/>
            <a:ext cx="8595360" cy="548640"/>
          </a:xfrm>
          <a:prstGeom prst="rect">
            <a:avLst/>
          </a:prstGeom>
          <a:solidFill>
            <a:srgbClr val="10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2862072"/>
            <a:ext cx="3108960" cy="18288"/>
          </a:xfrm>
          <a:prstGeom prst="rect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6200000">
            <a:off x="4581144" y="2807208"/>
            <a:ext cx="128016" cy="128016"/>
          </a:xfrm>
          <a:prstGeom prst="triangle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80960" y="2770632"/>
            <a:ext cx="182880" cy="18288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278892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7AFF"/>
                </a:solidFill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3. Check reputation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29535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9B9D"/>
                </a:solidFill>
              </a:defRPr>
            </a:pPr>
            <a:r>
              <a:t>GET /api/feedback/:agentId/summary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3502152"/>
            <a:ext cx="6583680" cy="18288"/>
          </a:xfrm>
          <a:prstGeom prst="rect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16200000">
            <a:off x="1106424" y="3447288"/>
            <a:ext cx="128016" cy="128016"/>
          </a:xfrm>
          <a:prstGeom prst="triangle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80960" y="3410712"/>
            <a:ext cx="182880" cy="18288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342900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7A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3291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4. HCS-10 connection request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35935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9B9D"/>
                </a:solidFill>
              </a:defRPr>
            </a:pPr>
            <a:r>
              <a:t>POST to inbound topic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931920"/>
            <a:ext cx="8595360" cy="548640"/>
          </a:xfrm>
          <a:prstGeom prst="rect">
            <a:avLst/>
          </a:prstGeom>
          <a:solidFill>
            <a:srgbClr val="10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3000" y="4142232"/>
            <a:ext cx="6583680" cy="18288"/>
          </a:xfrm>
          <a:prstGeom prst="rect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5400000">
            <a:off x="7635240" y="4087368"/>
            <a:ext cx="128016" cy="128016"/>
          </a:xfrm>
          <a:prstGeom prst="triangle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4050792"/>
            <a:ext cx="182880" cy="18288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06908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7AFF"/>
                </a:solidFill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3931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5. Service + HBAR 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42336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9B9D"/>
                </a:solidFill>
              </a:defRPr>
            </a:pPr>
            <a:r>
              <a:t>Agent A fulfills task, receives payment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4782312"/>
            <a:ext cx="3108960" cy="18288"/>
          </a:xfrm>
          <a:prstGeom prst="rect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16200000">
            <a:off x="4581144" y="4727448"/>
            <a:ext cx="128016" cy="128016"/>
          </a:xfrm>
          <a:prstGeom prst="triangle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80960" y="4690872"/>
            <a:ext cx="182880" cy="18288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470916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7AFF"/>
                </a:solidFill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4572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6. Submit weighted feedback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0600" y="4873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9B9D"/>
                </a:solidFill>
              </a:defRPr>
            </a:pPr>
            <a:r>
              <a:t>Weight = 0.2 + 0.8 x (giverScore / 1000)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5212080"/>
            <a:ext cx="8595360" cy="548640"/>
          </a:xfrm>
          <a:prstGeom prst="rect">
            <a:avLst/>
          </a:prstGeom>
          <a:solidFill>
            <a:srgbClr val="10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43000" y="5422392"/>
            <a:ext cx="3383280" cy="18288"/>
          </a:xfrm>
          <a:prstGeom prst="rect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16200000">
            <a:off x="1106424" y="5367528"/>
            <a:ext cx="128016" cy="128016"/>
          </a:xfrm>
          <a:prstGeom prst="triangle">
            <a:avLst/>
          </a:prstGeom>
          <a:solidFill>
            <a:srgbClr val="B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480560" y="5330952"/>
            <a:ext cx="182880" cy="18288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534924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7AFF"/>
                </a:solidFill>
              </a:defRPr>
            </a:pPr>
            <a: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212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7. Reputation score updated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63040" y="55138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9B9D"/>
                </a:solidFill>
              </a:defRPr>
            </a:pPr>
            <a:r>
              <a:t>Logged immutably to HCS topic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080760"/>
            <a:ext cx="146304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099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 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2819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B9B9D"/>
                </a:solidFill>
              </a:defRPr>
            </a:pPr>
            <a:r>
              <a:t>Service Provider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6080760"/>
            <a:ext cx="1463040" cy="411480"/>
          </a:xfrm>
          <a:prstGeom prst="rect">
            <a:avLst/>
          </a:prstGeom>
          <a:solidFill>
            <a:srgbClr val="1A1430"/>
          </a:solidFill>
          <a:ln w="12700">
            <a:solidFill>
              <a:srgbClr val="553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86200" y="6099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AgentRep Protocol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86200" y="62819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B9B9D"/>
                </a:solidFill>
              </a:defRPr>
            </a:pPr>
            <a:r>
              <a:t>HCS + ERC-8004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40880" y="6080760"/>
            <a:ext cx="146304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86600" y="6099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 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86600" y="62819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B9B9D"/>
                </a:solidFill>
              </a:defRPr>
            </a:pPr>
            <a:r>
              <a:t>Client / Requester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56032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" cy="17373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Reputation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Weighted 0–1000 score with reputation-weighted feedback and outlier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51560"/>
            <a:ext cx="256032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051560"/>
            <a:ext cx="45720" cy="17373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344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Staking &amp; Slashing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HBAR staking via smart contract. 5 HBAR min, 10% slash per upheld dispute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51560"/>
            <a:ext cx="256032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45720" cy="17373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344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HCS-10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Agent-to-agent communication with full connection lifecycle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256032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45720" cy="17373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Community Reviews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Wallet-verified feedback via HashPack. Real users, not anonymous ratings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017520"/>
            <a:ext cx="256032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017520"/>
            <a:ext cx="45720" cy="17373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Dispute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033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On-chain arbitration with designated arbiter. Stake slashing for bad actors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017520"/>
            <a:ext cx="256032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017520"/>
            <a:ext cx="45720" cy="17373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Developer SDK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7033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  <a:latin typeface="Calibri"/>
              </a:defRPr>
            </a:pPr>
            <a:r>
              <a:t>npm: agent-rep-sdk. Register agents, submit feedback, run autonomous listeners.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Security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Multi-layered defense against reputation gaming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5720" cy="7315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444"/>
                </a:solidFill>
                <a:latin typeface="Calibri"/>
              </a:defRPr>
            </a:pPr>
            <a:r>
              <a:t>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36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Sybil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44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361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HCS-10 connection required + stake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45720" cy="73152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59EF"/>
                </a:solidFill>
                <a:latin typeface="Calibri"/>
              </a:defRPr>
            </a:pPr>
            <a:r>
              <a:t>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Reputation Manipulation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59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259E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3591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Reputation-weighted feedback + outlier detection (Z-score, 1.5 std dev threshold)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45720" cy="7315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82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Feedback Spam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1821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1821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 HBAR stake required + rate limiting (20 requests/hour)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Data Tampering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0050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0050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All events logged on HCS — immutable, verifiable on HashScan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Deployed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All deployed and verifiable on Hedera Testnet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Smart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00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59EF"/>
                </a:solidFill>
                <a:latin typeface="Calibri"/>
              </a:defRPr>
            </a:pPr>
            <a:r>
              <a:t>0.0.8264743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Source-verified on Sourcify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Identity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59EF"/>
                </a:solidFill>
                <a:latin typeface="Calibri"/>
              </a:defRPr>
            </a:pPr>
            <a:r>
              <a:t>0.0.8264956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91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Agent registration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1546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Feedback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546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59EF"/>
                </a:solidFill>
                <a:latin typeface="Calibri"/>
              </a:defRPr>
            </a:pPr>
            <a:r>
              <a:t>0.0.8264959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Feedback &amp; staking 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776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Validation Topic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931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59EF"/>
                </a:solidFill>
                <a:latin typeface="Calibri"/>
              </a:defRPr>
            </a:pPr>
            <a:r>
              <a:t>0.0.8264962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33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Validation requests &amp; responses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7AFF"/>
                </a:solidFill>
                <a:latin typeface="Arial Black"/>
              </a:defRPr>
            </a:pPr>
            <a:r>
              <a:t>Tech 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011680"/>
            <a:ext cx="2560320" cy="347472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0116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011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450592"/>
            <a:ext cx="2560320" cy="347472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4505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50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889504"/>
            <a:ext cx="2560320" cy="347472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28895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8895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TypeORM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328416"/>
            <a:ext cx="2560320" cy="347472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32841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328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767328"/>
            <a:ext cx="2560320" cy="347472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37673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673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Solidity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206240"/>
            <a:ext cx="2560320" cy="347472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42062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206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agent-rep-sdk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Roadmap &amp; Key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846320" cy="4572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✓ Phase 1 (Complete)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ERC-8004 registries, HCS-10/11 integration, on-chain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✓ Phase 2 (Complete)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Reputation-weighted feedback, staking/slashing, outlier detection, SDK, smart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7AFF"/>
                </a:solidFill>
                <a:latin typeface="Calibri"/>
              </a:defRPr>
            </a:pPr>
            <a:r>
              <a:t>→ Phase 3 (Planned)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DAO governance for dispute resolution</a:t>
            </a:r>
          </a:p>
          <a:p>
            <a:pPr>
              <a:spcAft>
                <a:spcPts val="400"/>
              </a:spcAft>
              <a:defRPr sz="9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Reputation decay over time</a:t>
            </a:r>
          </a:p>
          <a:p>
            <a:pPr>
              <a:spcAft>
                <a:spcPts val="400"/>
              </a:spcAft>
              <a:defRPr sz="9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Cross-chain bridging</a:t>
            </a:r>
          </a:p>
          <a:p>
            <a:pPr>
              <a:spcAft>
                <a:spcPts val="400"/>
              </a:spcAft>
              <a:defRPr sz="9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Mainnet deployment</a:t>
            </a:r>
          </a:p>
          <a:p>
            <a:pPr>
              <a:spcAft>
                <a:spcPts val="400"/>
              </a:spcAft>
              <a:defRPr sz="9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AI arbiter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097280"/>
            <a:ext cx="310896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1097280"/>
            <a:ext cx="3108960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Key Learnings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6916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ffd43b"/>
              </a:buClr>
            </a:pPr>
            <a:r>
              <a:t>HCS-10 is powerful for structured agent-to-agent communication</a:t>
            </a:r>
          </a:p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ffd43b"/>
              </a:buClr>
            </a:pPr>
            <a:r>
              <a:t>Reputation algorithms need careful weighting to prevent gaming</a:t>
            </a:r>
          </a:p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ffd43b"/>
              </a:buClr>
            </a:pPr>
            <a:r>
              <a:t>Economic incentives (staking) are critical for establishing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20040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5720" cy="347472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AFF"/>
                </a:solidFill>
                <a:latin typeface="Arial Black"/>
              </a:defRPr>
            </a:pPr>
            <a:r>
              <a:t>Demo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Agent registration with HBAR</a:t>
            </a:r>
          </a:p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Reputation scoring in action</a:t>
            </a:r>
          </a:p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HCS-10 agent messaging</a:t>
            </a:r>
          </a:p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Feedback / validation / dispute flow</a:t>
            </a:r>
          </a:p>
          <a:p>
            <a:pPr>
              <a:spcAft>
                <a:spcPts val="400"/>
              </a:spcAft>
              <a:defRPr sz="1000">
                <a:solidFill>
                  <a:srgbClr val="9999AA"/>
                </a:solidFill>
                <a:latin typeface="Calibri"/>
              </a:defRPr>
              <a:buChar char="•"/>
              <a:buClr>
                <a:srgbClr val="b47aff"/>
              </a:buClr>
            </a:pPr>
            <a:r>
              <a:t>SDK-powered agent listener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1280160"/>
            <a:ext cx="2194560" cy="2194560"/>
          </a:xfrm>
          <a:prstGeom prst="ellipse">
            <a:avLst/>
          </a:prstGeom>
          <a:noFill/>
          <a:ln w="25400">
            <a:solidFill>
              <a:srgbClr val="825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20640" y="1645920"/>
            <a:ext cx="1463040" cy="1463040"/>
          </a:xfrm>
          <a:prstGeom prst="ellipse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Watch the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59EF"/>
                </a:solidFill>
                <a:latin typeface="Calibri"/>
              </a:defRPr>
            </a:pPr>
            <a:r>
              <a:t>[INSERT YOUTUBE LINK]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AA"/>
                </a:solidFill>
                <a:latin typeface="Calibri"/>
              </a:defRPr>
            </a:pPr>
            <a:r>
              <a:t>Live on Hedera Testnet  —  agentrep.xyz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AA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57200"/>
            <a:ext cx="2286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AgentRep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259EF"/>
                </a:solidFill>
                <a:latin typeface="Calibri"/>
              </a:defRPr>
            </a:pPr>
            <a:r>
              <a:t>agentrep.xyz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ERC-8004 on Hedera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017520"/>
            <a:ext cx="457200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154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GitHub:  github.com/firasbelhiba/agent-rep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npm:     agent-rep-sdk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7490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Web:     agentrep.xyz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25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